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26"/>
  </p:normalViewPr>
  <p:slideViewPr>
    <p:cSldViewPr snapToGrid="0" snapToObjects="1">
      <p:cViewPr varScale="1">
        <p:scale>
          <a:sx n="105" d="100"/>
          <a:sy n="105" d="100"/>
        </p:scale>
        <p:origin x="72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64FFDA"/>
                </a:solidFill>
                <a:latin typeface="Trebuchet MS"/>
              </a:defRPr>
            </a:pPr>
            <a:r>
              <a:t>SKYGUARD AI</a:t>
            </a:r>
          </a:p>
          <a:p>
            <a:pPr>
              <a:defRPr sz="1600">
                <a:solidFill>
                  <a:srgbClr val="F8FAFC"/>
                </a:solidFill>
                <a:latin typeface="Segoe UI"/>
              </a:defRPr>
            </a:pPr>
            <a:r>
              <a:t>AI/ML-Based Intelligent Anomaly Detection for Automatic Weather Stations (AWS)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4846320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484632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4FFDA"/>
                </a:solidFill>
                <a:latin typeface="Segoe UI"/>
              </a:defRPr>
            </a:pPr>
            <a:r>
              <a:rPr dirty="0"/>
              <a:t>PROBLEM STATEMENT: SIH26073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rPr dirty="0"/>
              <a:t>THEME: Disaster Management |</a:t>
            </a:r>
            <a:endParaRPr lang="en-US" dirty="0"/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rPr dirty="0"/>
              <a:t>CATEGORY: Software</a:t>
            </a:r>
            <a:br>
              <a:rPr dirty="0"/>
            </a:br>
            <a:r>
              <a:rPr dirty="0"/>
              <a:t>ORGANIZATION: Ministry of Earth Sciences (</a:t>
            </a:r>
            <a:r>
              <a:rPr dirty="0" err="1"/>
              <a:t>MoES</a:t>
            </a:r>
            <a:r>
              <a:rPr dirty="0"/>
              <a:t>)</a:t>
            </a:r>
            <a:br>
              <a:rPr dirty="0"/>
            </a:br>
            <a:r>
              <a:rPr dirty="0"/>
              <a:t>DEPARTMENT: India Meteorological Department (IMD)</a:t>
            </a:r>
            <a:br>
              <a:rPr dirty="0"/>
            </a:br>
            <a:br>
              <a:rPr dirty="0"/>
            </a:br>
            <a:r>
              <a:rPr sz="1200" b="1" dirty="0">
                <a:solidFill>
                  <a:schemeClr val="bg1"/>
                </a:solidFill>
              </a:rPr>
              <a:t>TEAM NAME: BINARY MINDS</a:t>
            </a:r>
          </a:p>
        </p:txBody>
      </p:sp>
      <p:pic>
        <p:nvPicPr>
          <p:cNvPr id="6" name="Picture 5" descr="sih_front_page_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9" y="1097280"/>
            <a:ext cx="5929937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64FFDA"/>
                </a:solidFill>
                <a:latin typeface="Trebuchet MS"/>
              </a:defRPr>
            </a:pPr>
            <a:r>
              <a:t>MEET THE TEAM: BINARY MINDS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128016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64FFDA"/>
                </a:solidFill>
                <a:latin typeface="Trebuchet MS"/>
              </a:defRPr>
            </a:pPr>
            <a:r>
              <a:t>CHALICHEEMALA SURYA THEJAS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Team Leader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39" y="1463040"/>
            <a:ext cx="3474720" cy="128016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64FFDA"/>
                </a:solidFill>
                <a:latin typeface="Trebuchet MS"/>
              </a:defRPr>
            </a:pPr>
            <a:r>
              <a:rPr dirty="0"/>
              <a:t>KOMMI DRUTHENDRA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rPr dirty="0"/>
              <a:t>ML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474720" cy="128016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64FFDA"/>
                </a:solidFill>
                <a:latin typeface="Trebuchet MS"/>
              </a:defRPr>
            </a:pPr>
            <a:r>
              <a:t>GADDAM SAI SANTHOSH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Full-Stack Developer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3474720" cy="128016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64FFDA"/>
                </a:solidFill>
                <a:latin typeface="Trebuchet MS"/>
              </a:defRPr>
            </a:pPr>
            <a:r>
              <a:rPr dirty="0"/>
              <a:t>DAMA VENKATA VIGNESH</a:t>
            </a:r>
            <a:endParaRPr lang="en-IN" dirty="0"/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rPr lang="en-IN" sz="1100" dirty="0">
                <a:solidFill>
                  <a:srgbClr val="F8FAFC"/>
                </a:solidFill>
                <a:latin typeface="Segoe UI"/>
              </a:rPr>
              <a:t>Systems &amp; DevOps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206239" y="3017520"/>
            <a:ext cx="3474720" cy="128016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64FFDA"/>
                </a:solidFill>
                <a:latin typeface="Trebuchet MS"/>
              </a:defRPr>
            </a:pPr>
            <a:r>
              <a:t>GONDU DIVITHA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Backend Developer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017520"/>
            <a:ext cx="3474720" cy="128016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64FFDA"/>
                </a:solidFill>
                <a:latin typeface="Trebuchet MS"/>
              </a:defRPr>
            </a:pPr>
            <a:r>
              <a:rPr dirty="0"/>
              <a:t>DEVARLA SOWMYA RAI</a:t>
            </a:r>
            <a:endParaRPr lang="en-IN" dirty="0"/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rPr lang="en-IN" sz="1100" dirty="0">
                <a:solidFill>
                  <a:srgbClr val="F8FAFC"/>
                </a:solidFill>
                <a:latin typeface="Segoe UI"/>
              </a:rPr>
              <a:t>Data &amp; Research Lead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10972800" cy="13716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PROJECT MENTORSHIP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Faculty Mentor: </a:t>
            </a:r>
            <a:r>
              <a:rPr>
                <a:solidFill>
                  <a:srgbClr val="F8FAFC"/>
                </a:solidFill>
              </a:rPr>
              <a:t>Dr. Sumathy S — Professor Higher Academic Grade, Department of Information Technology, VIT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Guidance Domain: </a:t>
            </a:r>
            <a:r>
              <a:rPr>
                <a:solidFill>
                  <a:srgbClr val="94A3B8"/>
                </a:solidFill>
              </a:rPr>
              <a:t>Provides ongoing expert advisory on dataset analysis, machine learning model architectures, and SIH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64FFDA"/>
                </a:solidFill>
                <a:latin typeface="Trebuchet MS"/>
              </a:defRPr>
            </a:pPr>
            <a:r>
              <a:t>THE VULNERABILITY OF WEATHER OBSERVATIONS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THE CORE CHALLENGE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Data Reliance: </a:t>
            </a:r>
            <a:r>
              <a:rPr>
                <a:solidFill>
                  <a:srgbClr val="F8FAFC"/>
                </a:solidFill>
              </a:rPr>
              <a:t>Critical weather warning systems rely on real-time AWS data.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Harsh Conditions: </a:t>
            </a:r>
            <a:r>
              <a:rPr>
                <a:solidFill>
                  <a:srgbClr val="F8FAFC"/>
                </a:solidFill>
              </a:rPr>
              <a:t>Harsh environments cause sensor drift and battery degradation.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Subtle Faults: </a:t>
            </a:r>
            <a:r>
              <a:rPr>
                <a:solidFill>
                  <a:srgbClr val="F8FAFC"/>
                </a:solidFill>
              </a:rPr>
              <a:t>Failed sensors broadcast faulty data that passes simple threshold checks.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Scale Barrier: </a:t>
            </a:r>
            <a:r>
              <a:rPr>
                <a:solidFill>
                  <a:srgbClr val="F8FAFC"/>
                </a:solidFill>
              </a:rPr>
              <a:t>Manual quality control is slow; automated real-time checking is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57784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WHY SIMPLE THRESHOLDS FAIL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Context Blindness: </a:t>
            </a:r>
            <a:r>
              <a:rPr>
                <a:solidFill>
                  <a:srgbClr val="F8FAFC"/>
                </a:solidFill>
              </a:rPr>
              <a:t>Static rule engines fail. Real weather events can legitimately trigger extreme readings.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Complex Anomalies: </a:t>
            </a:r>
            <a:r>
              <a:rPr>
                <a:solidFill>
                  <a:srgbClr val="F8FAFC"/>
                </a:solidFill>
              </a:rPr>
              <a:t>Sensors can fail through frozen values, gradual drift, or spikes while remaining within limits.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Unified Checks: </a:t>
            </a:r>
            <a:r>
              <a:rPr>
                <a:solidFill>
                  <a:srgbClr val="F8FAFC"/>
                </a:solidFill>
              </a:rPr>
              <a:t>Observations require validation across temporal, spatial, and multivariate attributes.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4389120"/>
            <a:ext cx="9144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8FAFC"/>
                </a:solidFill>
                <a:latin typeface="Segoe UI"/>
              </a:defRPr>
            </a:pPr>
            <a:r>
              <a:t>SPIKE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4389120"/>
            <a:ext cx="9144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8FAFC"/>
                </a:solidFill>
                <a:latin typeface="Segoe UI"/>
              </a:defRPr>
            </a:pPr>
            <a:r>
              <a:t>FROZEN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4389120"/>
            <a:ext cx="9144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8FAFC"/>
                </a:solidFill>
                <a:latin typeface="Segoe UI"/>
              </a:defRPr>
            </a:pPr>
            <a:r>
              <a:t>DRIFT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4389120"/>
            <a:ext cx="91440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8FAFC"/>
                </a:solidFill>
                <a:latin typeface="Segoe UI"/>
              </a:defRPr>
            </a:pPr>
            <a:r>
              <a:t>COMM FAILURE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32720" y="4389120"/>
            <a:ext cx="1014984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8FAFC"/>
                </a:solidFill>
                <a:latin typeface="Segoe UI"/>
              </a:defRPr>
            </a:pPr>
            <a:r>
              <a:t>MULTIVARIATE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64FFDA"/>
                </a:solidFill>
                <a:latin typeface="Trebuchet MS"/>
              </a:defRPr>
            </a:pPr>
            <a:r>
              <a:t>PROPOSED SOLUTION: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SkyGuard AI establishes a secure, modular monitoring layer that intercepts observations before they reach decision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920240" cy="36576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400" b="1">
                <a:solidFill>
                  <a:srgbClr val="64FFDA"/>
                </a:solidFill>
                <a:latin typeface="Trebuchet MS"/>
              </a:defRPr>
            </a:pPr>
            <a:r>
              <a:t>1. AWS STREAM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Continuous data streaming of Temp, Pres, Humidity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303520"/>
            <a:ext cx="1554480" cy="36576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2423160" y="3657600"/>
            <a:ext cx="182880" cy="274320"/>
          </a:xfrm>
          <a:prstGeom prst="rightArrow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51760" y="2011680"/>
            <a:ext cx="1920240" cy="36576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400" b="1">
                <a:solidFill>
                  <a:srgbClr val="304B72"/>
                </a:solidFill>
                <a:latin typeface="Trebuchet MS"/>
              </a:defRPr>
            </a:pPr>
            <a:r>
              <a:t>2. QUALITY CHECK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Validates missing, frozen, &amp; duplicate readings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5303520"/>
            <a:ext cx="1554480" cy="36576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4617720" y="3657600"/>
            <a:ext cx="182880" cy="274320"/>
          </a:xfrm>
          <a:prstGeom prst="rightArrow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46320" y="2011680"/>
            <a:ext cx="1920240" cy="36576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400" b="1">
                <a:solidFill>
                  <a:srgbClr val="64FFDA"/>
                </a:solidFill>
                <a:latin typeface="Trebuchet MS"/>
              </a:defRPr>
            </a:pPr>
            <a:r>
              <a:t>3. AI/ML ENGINE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Isolation Forest + Autoencoder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5303520"/>
            <a:ext cx="1554480" cy="36576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6812280" y="3657600"/>
            <a:ext cx="182880" cy="274320"/>
          </a:xfrm>
          <a:prstGeom prst="rightArrow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40879" y="2011680"/>
            <a:ext cx="1920240" cy="36576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400" b="1">
                <a:solidFill>
                  <a:srgbClr val="304B72"/>
                </a:solidFill>
                <a:latin typeface="Trebuchet MS"/>
              </a:defRPr>
            </a:pPr>
            <a:r>
              <a:t>4. EXPLAIN &amp; CLASSIFY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SHAP contribution &amp; root-cause mapping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59" y="5303520"/>
            <a:ext cx="1554480" cy="36576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9006839" y="3657600"/>
            <a:ext cx="182880" cy="274320"/>
          </a:xfrm>
          <a:prstGeom prst="rightArrow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1920240" cy="36576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400" b="1">
                <a:solidFill>
                  <a:srgbClr val="64FFDA"/>
                </a:solidFill>
                <a:latin typeface="Trebuchet MS"/>
              </a:defRPr>
            </a:pPr>
            <a:r>
              <a:t>5. HEALTH &amp; CORRECT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Calculates health score &amp; estimates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5303520"/>
            <a:ext cx="1554480" cy="36576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64FFDA"/>
                </a:solidFill>
                <a:latin typeface="Trebuchet MS"/>
              </a:defRPr>
            </a:pPr>
            <a:r>
              <a:t>SYSTEM FLOW &amp;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DATA FLOW PATHWAY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Ingestion: </a:t>
            </a:r>
            <a:r>
              <a:rPr>
                <a:solidFill>
                  <a:srgbClr val="F8FAFC"/>
                </a:solidFill>
              </a:rPr>
              <a:t>Sensors transmit parameters (Temp, Hum, Pres) via JSON streams.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Quality Gateway: </a:t>
            </a:r>
            <a:r>
              <a:rPr>
                <a:solidFill>
                  <a:srgbClr val="F8FAFC"/>
                </a:solidFill>
              </a:rPr>
              <a:t>Deterministic validation flags immediate range errors and timeouts.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Parallel Inference: </a:t>
            </a:r>
            <a:r>
              <a:rPr>
                <a:solidFill>
                  <a:srgbClr val="F8FAFC"/>
                </a:solidFill>
              </a:rPr>
              <a:t>Concurrent execution of Isolation Forest (ML) and Autoencoder (DL).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Decision Fusion: </a:t>
            </a:r>
            <a:r>
              <a:rPr>
                <a:solidFill>
                  <a:srgbClr val="F8FAFC"/>
                </a:solidFill>
              </a:rPr>
              <a:t>Scores are fused dynamically using a confidence weighted formula.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Explainability: </a:t>
            </a:r>
            <a:r>
              <a:rPr>
                <a:solidFill>
                  <a:srgbClr val="F8FAFC"/>
                </a:solidFill>
              </a:rPr>
              <a:t>SHAP extracts features driving the anomaly; root cause is categorized.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Broadcast: </a:t>
            </a:r>
            <a:r>
              <a:rPr>
                <a:solidFill>
                  <a:srgbClr val="F8FAFC"/>
                </a:solidFill>
              </a:rPr>
              <a:t>Downstream endpoints receive alerts alongside an imputed fallback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57784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SENSOR HEALTH &amp; IMPUTATION LOOP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Health Score: </a:t>
            </a:r>
            <a:r>
              <a:rPr>
                <a:solidFill>
                  <a:srgbClr val="F8FAFC"/>
                </a:solidFill>
              </a:rPr>
              <a:t>Continuous 0-100 rating tracked for every physical sensor.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Degradation: </a:t>
            </a:r>
            <a:r>
              <a:rPr>
                <a:solidFill>
                  <a:srgbClr val="F8FAFC"/>
                </a:solidFill>
              </a:rPr>
              <a:t>Persistent anomalies and data drops degrade the score over time.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Proactive Alerts: </a:t>
            </a:r>
            <a:r>
              <a:rPr>
                <a:solidFill>
                  <a:srgbClr val="F8FAFC"/>
                </a:solidFill>
              </a:rPr>
              <a:t>Scores below 50 trigger alerts for physical maintenance.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Data Recovery: </a:t>
            </a:r>
            <a:r>
              <a:rPr>
                <a:solidFill>
                  <a:srgbClr val="F8FAFC"/>
                </a:solidFill>
              </a:rPr>
              <a:t>If compromised, system estimates replacement readings dynamically.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931920"/>
            <a:ext cx="1645920" cy="146304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000"/>
              </a:spcAft>
              <a:defRPr sz="1000" b="1">
                <a:solidFill>
                  <a:srgbClr val="4CAF50"/>
                </a:solidFill>
                <a:latin typeface="Trebuchet MS"/>
              </a:defRPr>
            </a:pPr>
            <a:r>
              <a:t>NORMAL (100-80)</a:t>
            </a:r>
          </a:p>
          <a:p>
            <a:pPr>
              <a:spcAft>
                <a:spcPts val="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Full reliability.</a:t>
            </a:r>
            <a:br/>
            <a:r>
              <a:t>Data is passed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931920"/>
            <a:ext cx="1645920" cy="146304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000"/>
              </a:spcAft>
              <a:defRPr sz="1000" b="1">
                <a:solidFill>
                  <a:srgbClr val="FFC107"/>
                </a:solidFill>
                <a:latin typeface="Trebuchet MS"/>
              </a:defRPr>
            </a:pPr>
            <a:r>
              <a:t>DRIFT (79-50)</a:t>
            </a:r>
          </a:p>
          <a:p>
            <a:pPr>
              <a:spcAft>
                <a:spcPts val="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Warning state.</a:t>
            </a:r>
            <a:br/>
            <a:r>
              <a:t>Minor drift flagged.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3931920"/>
            <a:ext cx="1645920" cy="146304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000"/>
              </a:spcAft>
              <a:defRPr sz="1000" b="1">
                <a:solidFill>
                  <a:srgbClr val="FF5722"/>
                </a:solidFill>
                <a:latin typeface="Trebuchet MS"/>
              </a:defRPr>
            </a:pPr>
            <a:r>
              <a:t>FAIL (49-0)</a:t>
            </a:r>
          </a:p>
          <a:p>
            <a:pPr>
              <a:spcAft>
                <a:spcPts val="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Critical state.</a:t>
            </a:r>
            <a:br/>
            <a:r>
              <a:t>AI Imputation active.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64FFDA"/>
                </a:solidFill>
                <a:latin typeface="Trebuchet MS"/>
              </a:defRPr>
            </a:pPr>
            <a:r>
              <a:t>CONCEPT 1: MULTIVARIATE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PHYSICS-BASED VALIDATION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Inter-variable Links: </a:t>
            </a:r>
            <a:r>
              <a:rPr>
                <a:solidFill>
                  <a:srgbClr val="F8FAFC"/>
                </a:solidFill>
              </a:rPr>
              <a:t>Atmospheric parameters (temperature, pressure, relative humidity) are physically correlated and follow meteorological laws.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Univariate Blindspot: </a:t>
            </a:r>
            <a:r>
              <a:rPr>
                <a:solidFill>
                  <a:srgbClr val="F8FAFC"/>
                </a:solidFill>
              </a:rPr>
              <a:t>Univariate systems only analyze one sensor at a time. They miss joint relationships where values are normal individually but impossible in combination.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Correlation Checking: </a:t>
            </a:r>
            <a:r>
              <a:rPr>
                <a:solidFill>
                  <a:srgbClr val="F8FAFC"/>
                </a:solidFill>
              </a:rPr>
              <a:t>SkyGuard models the correlation matrix. If pressure drops sharply while temperature climbs during high humidity, it flags a multivariate anomaly.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False Alarm Reduction: </a:t>
            </a:r>
            <a:r>
              <a:rPr>
                <a:solidFill>
                  <a:srgbClr val="F8FAFC"/>
                </a:solidFill>
              </a:rPr>
              <a:t>This physics-aligned modeling prevents extreme, genuine weather anomalies from being falsely categorized as equipment failure.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57784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COMPARISON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194560"/>
          <a:ext cx="5029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FFDA"/>
                          </a:solidFill>
                          <a:latin typeface="Trebuchet MS"/>
                        </a:defRPr>
                      </a:pPr>
                      <a:r>
                        <a:t>SENSOR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FFDA"/>
                          </a:solidFill>
                          <a:latin typeface="Trebuchet MS"/>
                        </a:defRPr>
                      </a:pPr>
                      <a:r>
                        <a:t>UNIVARIATE CHECK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4FFDA"/>
                          </a:solidFill>
                          <a:latin typeface="Trebuchet MS"/>
                        </a:defRPr>
                      </a:pPr>
                      <a:r>
                        <a:t>SKYGUARD SYSTEM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Temp (35°C)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PASS (Limit 45°)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Validated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Hum (98%)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PASS (Limit 100%)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Validated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Combined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✔ PASS (Individual OK)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5722"/>
                          </a:solidFill>
                          <a:latin typeface="Segoe UI"/>
                        </a:defRPr>
                      </a:pPr>
                      <a:r>
                        <a:t>✘ FLAG: Joint Anomaly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64FFDA"/>
                </a:solidFill>
                <a:latin typeface="Trebuchet MS"/>
              </a:defRPr>
            </a:pPr>
            <a:r>
              <a:t>CONCEPT 2: ISOLATION FOREST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ISOLATING ANOMALIES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Algorithm Design: </a:t>
            </a:r>
            <a:r>
              <a:rPr>
                <a:solidFill>
                  <a:srgbClr val="F8FAFC"/>
                </a:solidFill>
              </a:rPr>
              <a:t>Isolation Forest is an unsupervised algorithm that isolates anomalies instead of profiling normal data points.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Random Partitioning: </a:t>
            </a:r>
            <a:r>
              <a:rPr>
                <a:solidFill>
                  <a:srgbClr val="F8FAFC"/>
                </a:solidFill>
              </a:rPr>
              <a:t>The dataset is recursively partitioned by randomly selecting a feature and a split value.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Path Length Principle: </a:t>
            </a:r>
            <a:r>
              <a:rPr>
                <a:solidFill>
                  <a:srgbClr val="F8FAFC"/>
                </a:solidFill>
              </a:rPr>
              <a:t>Anomalies require far fewer partitions (shorter path lengths) to isolate because they lie away from dense clusters.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Performance Benefit: </a:t>
            </a:r>
            <a:r>
              <a:rPr>
                <a:solidFill>
                  <a:srgbClr val="F8FAFC"/>
                </a:solidFill>
              </a:rPr>
              <a:t>Provides immediate, low-latency detection of sharp sensor spikes and sudden out-of-bounds readings.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57784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ISOLATION FOREST MECHANISM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7955279" y="2606040"/>
            <a:ext cx="1097281" cy="914400"/>
          </a:xfrm>
          <a:prstGeom prst="line">
            <a:avLst/>
          </a:prstGeom>
          <a:ln w="12700">
            <a:solidFill>
              <a:srgbClr val="304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052560" y="2606040"/>
            <a:ext cx="1097280" cy="914400"/>
          </a:xfrm>
          <a:prstGeom prst="line">
            <a:avLst/>
          </a:prstGeom>
          <a:ln w="19050">
            <a:solidFill>
              <a:srgbClr val="FF57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223760" y="3520440"/>
            <a:ext cx="731519" cy="914400"/>
          </a:xfrm>
          <a:prstGeom prst="line">
            <a:avLst/>
          </a:prstGeom>
          <a:ln w="12700">
            <a:solidFill>
              <a:srgbClr val="304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955279" y="3520440"/>
            <a:ext cx="731521" cy="914400"/>
          </a:xfrm>
          <a:prstGeom prst="line">
            <a:avLst/>
          </a:prstGeom>
          <a:ln w="12700">
            <a:solidFill>
              <a:srgbClr val="304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955279" y="4434840"/>
            <a:ext cx="731521" cy="914400"/>
          </a:xfrm>
          <a:prstGeom prst="line">
            <a:avLst/>
          </a:prstGeom>
          <a:ln w="12700">
            <a:solidFill>
              <a:srgbClr val="304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4434840"/>
            <a:ext cx="731520" cy="914400"/>
          </a:xfrm>
          <a:prstGeom prst="line">
            <a:avLst/>
          </a:prstGeom>
          <a:ln w="12700">
            <a:solidFill>
              <a:srgbClr val="304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732520" y="2286000"/>
            <a:ext cx="640080" cy="64008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Root</a:t>
            </a:r>
          </a:p>
        </p:txBody>
      </p:sp>
      <p:sp>
        <p:nvSpPr>
          <p:cNvPr id="13" name="Oval 12"/>
          <p:cNvSpPr/>
          <p:nvPr/>
        </p:nvSpPr>
        <p:spPr>
          <a:xfrm>
            <a:off x="9829800" y="3200400"/>
            <a:ext cx="640080" cy="640080"/>
          </a:xfrm>
          <a:prstGeom prst="ellipse">
            <a:avLst/>
          </a:prstGeom>
          <a:solidFill>
            <a:srgbClr val="FF5722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200400"/>
            <a:ext cx="640080" cy="64008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N1</a:t>
            </a:r>
          </a:p>
        </p:txBody>
      </p:sp>
      <p:sp>
        <p:nvSpPr>
          <p:cNvPr id="15" name="Oval 14"/>
          <p:cNvSpPr/>
          <p:nvPr/>
        </p:nvSpPr>
        <p:spPr>
          <a:xfrm>
            <a:off x="6903720" y="4114800"/>
            <a:ext cx="640080" cy="64008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N2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0" y="4114800"/>
            <a:ext cx="640080" cy="64008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N3</a:t>
            </a:r>
          </a:p>
        </p:txBody>
      </p:sp>
      <p:sp>
        <p:nvSpPr>
          <p:cNvPr id="17" name="Oval 16"/>
          <p:cNvSpPr/>
          <p:nvPr/>
        </p:nvSpPr>
        <p:spPr>
          <a:xfrm>
            <a:off x="7635240" y="5029200"/>
            <a:ext cx="640080" cy="64008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N4</a:t>
            </a:r>
          </a:p>
        </p:txBody>
      </p:sp>
      <p:sp>
        <p:nvSpPr>
          <p:cNvPr id="18" name="Oval 17"/>
          <p:cNvSpPr/>
          <p:nvPr/>
        </p:nvSpPr>
        <p:spPr>
          <a:xfrm>
            <a:off x="9098280" y="5029200"/>
            <a:ext cx="640080" cy="64008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N5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30175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5722"/>
                </a:solidFill>
                <a:latin typeface="Segoe UI"/>
              </a:defRPr>
            </a:pPr>
            <a:r>
              <a:t>Anomaly:</a:t>
            </a:r>
            <a:br/>
            <a:r>
              <a:t>Short Path</a:t>
            </a:r>
            <a:br/>
            <a:r>
              <a:t>(1 Split)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9377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Normal:</a:t>
            </a:r>
            <a:br/>
            <a:r>
              <a:t>Deep Path</a:t>
            </a:r>
            <a:br/>
            <a:r>
              <a:t>(4+ Splits)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64FFDA"/>
                </a:solidFill>
                <a:latin typeface="Trebuchet MS"/>
              </a:defRPr>
            </a:pPr>
            <a:r>
              <a:t>CONCEPT 3: AUTOENCODER RECONSTRUCTION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RECONSTRUCTION-BASED DETECTION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Core Model: </a:t>
            </a:r>
            <a:r>
              <a:rPr>
                <a:solidFill>
                  <a:srgbClr val="F8FAFC"/>
                </a:solidFill>
              </a:rPr>
              <a:t>A neural network consisting of an Encoder (data compression) and a Decoder (data reconstruction).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Training Paradigm: </a:t>
            </a:r>
            <a:r>
              <a:rPr>
                <a:solidFill>
                  <a:srgbClr val="F8FAFC"/>
                </a:solidFill>
              </a:rPr>
              <a:t>The model is trained entirely on historical, clean observation streams (normal weather patterns).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Anomaly Metric: </a:t>
            </a:r>
            <a:r>
              <a:rPr>
                <a:solidFill>
                  <a:srgbClr val="F8FAFC"/>
                </a:solidFill>
              </a:rPr>
              <a:t>When presented with normal readings, the reconstruction error is low. If readings contain anomalies (e.g. sensor drift), the error spikes.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Primary Use Case: </a:t>
            </a:r>
            <a:r>
              <a:rPr>
                <a:solidFill>
                  <a:srgbClr val="F8FAFC"/>
                </a:solidFill>
              </a:rPr>
              <a:t>Highly effective at identifying gradual sensor degradation and long-term calibration drift.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57784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rPr dirty="0"/>
              <a:t>AUTOENCODER ARCHITECTURE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086600" y="2331720"/>
            <a:ext cx="1828800" cy="914400"/>
          </a:xfrm>
          <a:prstGeom prst="line">
            <a:avLst/>
          </a:prstGeom>
          <a:ln w="8890">
            <a:solidFill>
              <a:srgbClr val="304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086600" y="3246120"/>
            <a:ext cx="1828800" cy="0"/>
          </a:xfrm>
          <a:prstGeom prst="line">
            <a:avLst/>
          </a:prstGeom>
          <a:ln w="8890">
            <a:solidFill>
              <a:srgbClr val="304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086600" y="3246120"/>
            <a:ext cx="1828800" cy="914400"/>
          </a:xfrm>
          <a:prstGeom prst="line">
            <a:avLst/>
          </a:prstGeom>
          <a:ln w="8890">
            <a:solidFill>
              <a:srgbClr val="304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915400" y="2331720"/>
            <a:ext cx="1828800" cy="914400"/>
          </a:xfrm>
          <a:prstGeom prst="line">
            <a:avLst/>
          </a:prstGeom>
          <a:ln w="8890">
            <a:solidFill>
              <a:srgbClr val="304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15400" y="3246120"/>
            <a:ext cx="1828800" cy="0"/>
          </a:xfrm>
          <a:prstGeom prst="line">
            <a:avLst/>
          </a:prstGeom>
          <a:ln w="8890">
            <a:solidFill>
              <a:srgbClr val="304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15400" y="3246120"/>
            <a:ext cx="1828800" cy="914400"/>
          </a:xfrm>
          <a:prstGeom prst="line">
            <a:avLst/>
          </a:prstGeom>
          <a:ln w="8890">
            <a:solidFill>
              <a:srgbClr val="304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766560" y="2011680"/>
            <a:ext cx="685800" cy="68580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rPr dirty="0"/>
              <a:t>Temp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926080"/>
            <a:ext cx="685800" cy="68580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Pres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3840480"/>
            <a:ext cx="685800" cy="68580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Hum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0" y="2926080"/>
            <a:ext cx="685800" cy="68580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Latent</a:t>
            </a:r>
          </a:p>
        </p:txBody>
      </p:sp>
      <p:sp>
        <p:nvSpPr>
          <p:cNvPr id="16" name="Oval 15"/>
          <p:cNvSpPr/>
          <p:nvPr/>
        </p:nvSpPr>
        <p:spPr>
          <a:xfrm>
            <a:off x="10424160" y="2011680"/>
            <a:ext cx="685800" cy="68580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Temp'</a:t>
            </a:r>
          </a:p>
        </p:txBody>
      </p:sp>
      <p:sp>
        <p:nvSpPr>
          <p:cNvPr id="17" name="Oval 16"/>
          <p:cNvSpPr/>
          <p:nvPr/>
        </p:nvSpPr>
        <p:spPr>
          <a:xfrm>
            <a:off x="10424160" y="2926080"/>
            <a:ext cx="685800" cy="68580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Pres'</a:t>
            </a:r>
          </a:p>
        </p:txBody>
      </p:sp>
      <p:sp>
        <p:nvSpPr>
          <p:cNvPr id="18" name="Oval 17"/>
          <p:cNvSpPr/>
          <p:nvPr/>
        </p:nvSpPr>
        <p:spPr>
          <a:xfrm>
            <a:off x="10424160" y="3840480"/>
            <a:ext cx="685800" cy="685800"/>
          </a:xfrm>
          <a:prstGeom prst="ellipse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Hum'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2631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Trebuchet MS"/>
              </a:defRPr>
            </a:pPr>
            <a:r>
              <a:rPr dirty="0"/>
              <a:t>ENCODER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2174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Trebuchet MS"/>
              </a:defRPr>
            </a:pPr>
            <a:r>
              <a:rPr dirty="0"/>
              <a:t>DECODER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846320"/>
            <a:ext cx="4297680" cy="548640"/>
          </a:xfrm>
          <a:prstGeom prst="rect">
            <a:avLst/>
          </a:prstGeom>
          <a:solidFill>
            <a:srgbClr val="172A45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  <a:latin typeface="Segoe UI"/>
              </a:defRPr>
            </a:pPr>
            <a:r>
              <a:t>COMPARE INPUT VS RECONSTRUCTED OUTPUT = RECONSTRUCTION 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64FFDA"/>
                </a:solidFill>
                <a:latin typeface="Trebuchet MS"/>
              </a:defRPr>
            </a:pPr>
            <a:r>
              <a:t>EXPLAINABILITY &amp; ANOMALY DIAGNOSIS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SHAP EXPLAINABILITY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Transparency: </a:t>
            </a:r>
            <a:r>
              <a:rPr>
                <a:solidFill>
                  <a:srgbClr val="F8FAFC"/>
                </a:solidFill>
              </a:rPr>
              <a:t>Evaluators favor systems that are not 'black boxes'. SkyGuard integrates SHAP local contribution values.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Feature Attribution: </a:t>
            </a:r>
            <a:r>
              <a:rPr>
                <a:solidFill>
                  <a:srgbClr val="F8FAFC"/>
                </a:solidFill>
              </a:rPr>
              <a:t>SHAP quantifies the exact contribution of each sensor parameter (e.g. Temp, Humidity) toward the final anomaly classification.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Auditable Output: </a:t>
            </a:r>
            <a:r>
              <a:rPr>
                <a:solidFill>
                  <a:srgbClr val="F8FAFC"/>
                </a:solidFill>
              </a:rPr>
              <a:t>Operators can view the specific physical evidence that led the machine learning model to raise an alert.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57784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ROOT CAUSE CLASSIFIER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Diagnosis: </a:t>
            </a:r>
            <a:r>
              <a:rPr>
                <a:solidFill>
                  <a:srgbClr val="F8FAFC"/>
                </a:solidFill>
              </a:rPr>
              <a:t>Auxiliary network maps feature contributions to failure categories.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Root Causes: </a:t>
            </a:r>
            <a:r>
              <a:rPr>
                <a:solidFill>
                  <a:srgbClr val="F8FAFC"/>
                </a:solidFill>
              </a:rPr>
              <a:t>Classifies anomalies into spikes, frozen values, drift, or comm drops.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Actionable: </a:t>
            </a:r>
            <a:r>
              <a:rPr>
                <a:solidFill>
                  <a:srgbClr val="F8FAFC"/>
                </a:solidFill>
              </a:rPr>
              <a:t>Provides maintenance teams with direct repair suggestions.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4206240"/>
            <a:ext cx="4663440" cy="1280160"/>
          </a:xfrm>
          <a:prstGeom prst="rect">
            <a:avLst/>
          </a:prstGeom>
          <a:solidFill>
            <a:srgbClr val="172A45"/>
          </a:solidFill>
          <a:ln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64FFDA"/>
                </a:solidFill>
                <a:latin typeface="Segoe UI"/>
              </a:defRPr>
            </a:pPr>
            <a:r>
              <a:t>SHAP FEATURE ATTRIBUTION ANALYSIS:</a:t>
            </a:r>
          </a:p>
          <a:p>
            <a:pPr>
              <a:spcAft>
                <a:spcPts val="200"/>
              </a:spcAft>
              <a:defRPr sz="900">
                <a:latin typeface="Segoe UI"/>
              </a:defRPr>
            </a:pPr>
            <a:r>
              <a:rPr>
                <a:solidFill>
                  <a:srgbClr val="FF5722"/>
                </a:solidFill>
              </a:rPr>
              <a:t>Temperature Contribution: 78% (Primary Driver)</a:t>
            </a:r>
          </a:p>
          <a:p>
            <a:pPr>
              <a:spcAft>
                <a:spcPts val="200"/>
              </a:spcAft>
              <a:defRPr sz="900">
                <a:latin typeface="Segoe UI"/>
              </a:defRPr>
            </a:pPr>
            <a:r>
              <a:rPr>
                <a:solidFill>
                  <a:srgbClr val="F8FAFC"/>
                </a:solidFill>
              </a:rPr>
              <a:t>Humidity Contribution: 15%</a:t>
            </a:r>
          </a:p>
          <a:p>
            <a:pPr>
              <a:spcAft>
                <a:spcPts val="200"/>
              </a:spcAft>
              <a:defRPr sz="900">
                <a:latin typeface="Segoe UI"/>
              </a:defRPr>
            </a:pPr>
            <a:r>
              <a:rPr>
                <a:solidFill>
                  <a:srgbClr val="94A3B8"/>
                </a:solidFill>
              </a:rPr>
              <a:t>Pressure Contribution: 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64FFDA"/>
                </a:solidFill>
                <a:latin typeface="Trebuchet MS"/>
              </a:defRPr>
            </a:pPr>
            <a:r>
              <a:t>TECHNICAL FEASIBILITY &amp;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modern, modular, production-ready stack using established frameworks for rapid scaling.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0116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BACKEND APIS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Python &amp; FastAPI framework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High performance asynchronous streaming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Docker containerization for Cloud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577840" cy="20116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AI &amp; ML ENGINES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Scikit-learn (Isolation Forest)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PyTorch (Neural Network Autoencoder)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SHAP explainability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5303520" cy="20116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STORAGE &amp; PLOTTING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PostgreSQL (Observations database)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Plotly library for real-time charting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Structured audit logging for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5577840" cy="20116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DEPLOYMENT &amp; EDGE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AWS EC2 scalable host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Docker container images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>
                <a:solidFill>
                  <a:srgbClr val="F8FAFC"/>
                </a:solidFill>
              </a:rPr>
              <a:t>ESP32 microchip edge gateway compatibility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64FFDA"/>
                </a:solidFill>
                <a:latin typeface="Trebuchet MS"/>
              </a:defRPr>
            </a:pPr>
            <a:r>
              <a:t>OPERATIONAL OUTCOMES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KEY PERFORMANCE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64FFDA"/>
                </a:solidFill>
                <a:latin typeface="Trebuchet MS"/>
              </a:defRPr>
            </a:pPr>
            <a:r>
              <a:t>≥ 90%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Target F1-Score across all injected anomaly 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64FFDA"/>
                </a:solidFill>
                <a:latin typeface="Trebuchet MS"/>
              </a:defRPr>
            </a:pPr>
            <a:r>
              <a:t>&lt; 2 Sec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Target end-to-end alert latency per new AWS stream observation.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64FFDA"/>
                </a:solidFill>
                <a:latin typeface="Trebuchet MS"/>
              </a:defRPr>
            </a:pPr>
            <a:r>
              <a:t>100%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Alert transparency with confidence score &amp;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57784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STRATEGIC IMPACT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Trustworthy Weather Feed: </a:t>
            </a:r>
            <a:r>
              <a:rPr>
                <a:solidFill>
                  <a:srgbClr val="F8FAFC"/>
                </a:solidFill>
              </a:rPr>
              <a:t>Guarantees reliable feed for weather forecasts, disaster prevention systems, and MoES storage.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Data Stream Continuity: </a:t>
            </a:r>
            <a:r>
              <a:rPr>
                <a:solidFill>
                  <a:srgbClr val="F8FAFC"/>
                </a:solidFill>
              </a:rPr>
              <a:t>Rather than discarding anomalous signals, our self-healing layer reconstructs missing segments to prevent observations gaps.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Predictive Maintenance: </a:t>
            </a:r>
            <a:r>
              <a:rPr>
                <a:solidFill>
                  <a:srgbClr val="F8FAFC"/>
                </a:solidFill>
              </a:rPr>
              <a:t>Detects drift and frozen states early, allowing technicians to resolve issues before outright hardware failure occurs.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Operational Efficiency: </a:t>
            </a:r>
            <a:r>
              <a:rPr>
                <a:solidFill>
                  <a:srgbClr val="F8FAFC"/>
                </a:solidFill>
              </a:rPr>
              <a:t>Prevents costly cloud operations through lightweight local feature-extraction and asynchronous API stream 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64FFDA"/>
                </a:solidFill>
                <a:latin typeface="Trebuchet MS"/>
              </a:defRPr>
            </a:pPr>
            <a:r>
              <a:t>PROTOTYPE BUDGET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18288"/>
          </a:xfrm>
          <a:prstGeom prst="rect">
            <a:avLst/>
          </a:prstGeom>
          <a:solidFill>
            <a:srgbClr val="30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ESTIMATED PROTOTYPE BUDGET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4754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4FFDA"/>
                          </a:solidFill>
                          <a:latin typeface="Trebuchet MS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4FFDA"/>
                          </a:solidFill>
                          <a:latin typeface="Trebuchet M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4FFDA"/>
                          </a:solidFill>
                          <a:latin typeface="Trebuchet MS"/>
                        </a:defRPr>
                      </a:pPr>
                      <a:r>
                        <a:t>COST (INR)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Cloud/Hosting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Compute &amp; Database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8,000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Edge Hardware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ESP32 + sensor kit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Testing/Data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Anomaly injection tests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7,500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Software Tools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Domain &amp; Dashboard utilities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Contingency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Testing adjustments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64FFDA"/>
                          </a:solidFill>
                          <a:latin typeface="Segoe UI"/>
                        </a:defRPr>
                      </a:pPr>
                      <a:r>
                        <a:t>TOTAL BUDGET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Full software prototype MVP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64FFDA"/>
                          </a:solidFill>
                          <a:latin typeface="Segoe UI"/>
                        </a:defRPr>
                      </a:pPr>
                      <a:r>
                        <a:t>26,000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0" y="1371600"/>
            <a:ext cx="5577840" cy="475488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30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400"/>
              </a:spcAft>
              <a:defRPr sz="1600" b="1">
                <a:solidFill>
                  <a:srgbClr val="64FFDA"/>
                </a:solidFill>
                <a:latin typeface="Trebuchet MS"/>
              </a:defRPr>
            </a:pPr>
            <a:r>
              <a:t>SUMMARY &amp; STRATEGIC PITCH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SIH-Aligned: </a:t>
            </a:r>
            <a:r>
              <a:rPr>
                <a:solidFill>
                  <a:srgbClr val="F8FAFC"/>
                </a:solidFill>
              </a:rPr>
              <a:t>Directly aligns with MoES and IMD requirements under SIH26073.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Novel Tech: </a:t>
            </a:r>
            <a:r>
              <a:rPr>
                <a:solidFill>
                  <a:srgbClr val="F8FAFC"/>
                </a:solidFill>
              </a:rPr>
              <a:t>Combines Isolation Forest and Autoencoders with transparent SHAP explanations.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Low Compute: </a:t>
            </a:r>
            <a:r>
              <a:rPr>
                <a:solidFill>
                  <a:srgbClr val="F8FAFC"/>
                </a:solidFill>
              </a:rPr>
              <a:t>Asynchronous API structure handles high-volume streams at low cost.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t>• </a:t>
            </a:r>
            <a:r>
              <a:rPr b="1">
                <a:solidFill>
                  <a:srgbClr val="64FFDA"/>
                </a:solidFill>
              </a:rPr>
              <a:t>Ready to Deploy: </a:t>
            </a:r>
            <a:r>
              <a:rPr>
                <a:solidFill>
                  <a:srgbClr val="F8FAFC"/>
                </a:solidFill>
              </a:rPr>
              <a:t>Delivers a complete, trustworthy pathway for clean data feeds.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5120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FFDA"/>
                </a:solidFill>
                <a:latin typeface="Trebuchet MS"/>
              </a:defRPr>
            </a:pPr>
            <a:r>
              <a:t>DEVELOPED BY TEAM BINARY MINDS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1409</Words>
  <Application>Microsoft Office PowerPoint</Application>
  <PresentationFormat>Widescreen</PresentationFormat>
  <Paragraphs>192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Surya Thejas</dc:creator>
  <cp:keywords/>
  <dc:description>generated using python-pptx</dc:description>
  <cp:lastModifiedBy>Surya Thejas</cp:lastModifiedBy>
  <cp:revision>4</cp:revision>
  <dcterms:created xsi:type="dcterms:W3CDTF">2013-01-27T09:14:16Z</dcterms:created>
  <dcterms:modified xsi:type="dcterms:W3CDTF">2026-08-25T04:31:10Z</dcterms:modified>
  <cp:category/>
</cp:coreProperties>
</file>